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5" r:id="rId5"/>
    <p:sldId id="263" r:id="rId6"/>
    <p:sldId id="267" r:id="rId7"/>
    <p:sldId id="260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13E6C-E61B-4B36-B67A-2A61AF709EA7}" v="7" dt="2026-09-26T00:24:46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Sofia Perez Castro" userId="23656862-7e13-4274-9875-01d5cb5dcb23" providerId="ADAL" clId="{02613E6C-E61B-4B36-B67A-2A61AF709EA7}"/>
    <pc:docChg chg="undo custSel addSld modSld">
      <pc:chgData name="Ana Sofia Perez Castro" userId="23656862-7e13-4274-9875-01d5cb5dcb23" providerId="ADAL" clId="{02613E6C-E61B-4B36-B67A-2A61AF709EA7}" dt="2026-09-26T00:27:07.662" v="621" actId="123"/>
      <pc:docMkLst>
        <pc:docMk/>
      </pc:docMkLst>
      <pc:sldChg chg="modSp mod">
        <pc:chgData name="Ana Sofia Perez Castro" userId="23656862-7e13-4274-9875-01d5cb5dcb23" providerId="ADAL" clId="{02613E6C-E61B-4B36-B67A-2A61AF709EA7}" dt="2026-09-25T21:01:56.090" v="0" actId="20577"/>
        <pc:sldMkLst>
          <pc:docMk/>
          <pc:sldMk cId="169757690" sldId="256"/>
        </pc:sldMkLst>
        <pc:spChg chg="mod">
          <ac:chgData name="Ana Sofia Perez Castro" userId="23656862-7e13-4274-9875-01d5cb5dcb23" providerId="ADAL" clId="{02613E6C-E61B-4B36-B67A-2A61AF709EA7}" dt="2026-09-25T21:01:56.090" v="0" actId="20577"/>
          <ac:spMkLst>
            <pc:docMk/>
            <pc:sldMk cId="169757690" sldId="256"/>
            <ac:spMk id="8" creationId="{A5E61581-D611-3242-423D-B2E18400DE40}"/>
          </ac:spMkLst>
        </pc:spChg>
      </pc:sldChg>
      <pc:sldChg chg="addSp delSp modSp mod">
        <pc:chgData name="Ana Sofia Perez Castro" userId="23656862-7e13-4274-9875-01d5cb5dcb23" providerId="ADAL" clId="{02613E6C-E61B-4B36-B67A-2A61AF709EA7}" dt="2026-09-26T00:27:07.662" v="621" actId="123"/>
        <pc:sldMkLst>
          <pc:docMk/>
          <pc:sldMk cId="2466999293" sldId="264"/>
        </pc:sldMkLst>
        <pc:spChg chg="add del">
          <ac:chgData name="Ana Sofia Perez Castro" userId="23656862-7e13-4274-9875-01d5cb5dcb23" providerId="ADAL" clId="{02613E6C-E61B-4B36-B67A-2A61AF709EA7}" dt="2026-09-26T00:22:48.796" v="420"/>
          <ac:spMkLst>
            <pc:docMk/>
            <pc:sldMk cId="2466999293" sldId="264"/>
            <ac:spMk id="2" creationId="{A3855316-1DA7-4895-A172-40432BE8C275}"/>
          </ac:spMkLst>
        </pc:spChg>
        <pc:spChg chg="add del">
          <ac:chgData name="Ana Sofia Perez Castro" userId="23656862-7e13-4274-9875-01d5cb5dcb23" providerId="ADAL" clId="{02613E6C-E61B-4B36-B67A-2A61AF709EA7}" dt="2026-09-26T00:24:46.214" v="488"/>
          <ac:spMkLst>
            <pc:docMk/>
            <pc:sldMk cId="2466999293" sldId="264"/>
            <ac:spMk id="3" creationId="{89E62CD8-579F-41AD-99E3-7045953B6B82}"/>
          </ac:spMkLst>
        </pc:spChg>
        <pc:spChg chg="mod">
          <ac:chgData name="Ana Sofia Perez Castro" userId="23656862-7e13-4274-9875-01d5cb5dcb23" providerId="ADAL" clId="{02613E6C-E61B-4B36-B67A-2A61AF709EA7}" dt="2026-09-26T00:27:07.662" v="621" actId="123"/>
          <ac:spMkLst>
            <pc:docMk/>
            <pc:sldMk cId="2466999293" sldId="264"/>
            <ac:spMk id="31" creationId="{00000000-0000-0000-0000-000000000000}"/>
          </ac:spMkLst>
        </pc:spChg>
      </pc:sldChg>
      <pc:sldChg chg="addSp delSp modSp add mod setBg">
        <pc:chgData name="Ana Sofia Perez Castro" userId="23656862-7e13-4274-9875-01d5cb5dcb23" providerId="ADAL" clId="{02613E6C-E61B-4B36-B67A-2A61AF709EA7}" dt="2026-09-25T21:11:43.756" v="418" actId="20577"/>
        <pc:sldMkLst>
          <pc:docMk/>
          <pc:sldMk cId="1561940921" sldId="266"/>
        </pc:sldMkLst>
        <pc:spChg chg="add del">
          <ac:chgData name="Ana Sofia Perez Castro" userId="23656862-7e13-4274-9875-01d5cb5dcb23" providerId="ADAL" clId="{02613E6C-E61B-4B36-B67A-2A61AF709EA7}" dt="2026-09-25T21:03:31.323" v="54"/>
          <ac:spMkLst>
            <pc:docMk/>
            <pc:sldMk cId="1561940921" sldId="266"/>
            <ac:spMk id="2" creationId="{B0722445-DC49-477C-81F1-D2A3765FBCF6}"/>
          </ac:spMkLst>
        </pc:spChg>
        <pc:spChg chg="mod">
          <ac:chgData name="Ana Sofia Perez Castro" userId="23656862-7e13-4274-9875-01d5cb5dcb23" providerId="ADAL" clId="{02613E6C-E61B-4B36-B67A-2A61AF709EA7}" dt="2026-09-25T21:03:16.472" v="52" actId="20577"/>
          <ac:spMkLst>
            <pc:docMk/>
            <pc:sldMk cId="1561940921" sldId="266"/>
            <ac:spMk id="4" creationId="{80376701-D2F4-99B4-941E-3C205D1AED66}"/>
          </ac:spMkLst>
        </pc:spChg>
        <pc:spChg chg="del">
          <ac:chgData name="Ana Sofia Perez Castro" userId="23656862-7e13-4274-9875-01d5cb5dcb23" providerId="ADAL" clId="{02613E6C-E61B-4B36-B67A-2A61AF709EA7}" dt="2026-09-25T21:02:41.769" v="14" actId="478"/>
          <ac:spMkLst>
            <pc:docMk/>
            <pc:sldMk cId="1561940921" sldId="266"/>
            <ac:spMk id="10" creationId="{00000000-0000-0000-0000-000000000000}"/>
          </ac:spMkLst>
        </pc:spChg>
        <pc:spChg chg="mod">
          <ac:chgData name="Ana Sofia Perez Castro" userId="23656862-7e13-4274-9875-01d5cb5dcb23" providerId="ADAL" clId="{02613E6C-E61B-4B36-B67A-2A61AF709EA7}" dt="2026-09-25T21:11:43.756" v="418" actId="20577"/>
          <ac:spMkLst>
            <pc:docMk/>
            <pc:sldMk cId="1561940921" sldId="266"/>
            <ac:spMk id="11" creationId="{00000000-0000-0000-0000-000000000000}"/>
          </ac:spMkLst>
        </pc:spChg>
        <pc:spChg chg="del">
          <ac:chgData name="Ana Sofia Perez Castro" userId="23656862-7e13-4274-9875-01d5cb5dcb23" providerId="ADAL" clId="{02613E6C-E61B-4B36-B67A-2A61AF709EA7}" dt="2026-09-25T21:02:44.627" v="15" actId="478"/>
          <ac:spMkLst>
            <pc:docMk/>
            <pc:sldMk cId="1561940921" sldId="266"/>
            <ac:spMk id="12" creationId="{00000000-0000-0000-0000-000000000000}"/>
          </ac:spMkLst>
        </pc:spChg>
        <pc:spChg chg="del">
          <ac:chgData name="Ana Sofia Perez Castro" userId="23656862-7e13-4274-9875-01d5cb5dcb23" providerId="ADAL" clId="{02613E6C-E61B-4B36-B67A-2A61AF709EA7}" dt="2026-09-25T21:02:53.045" v="16" actId="478"/>
          <ac:spMkLst>
            <pc:docMk/>
            <pc:sldMk cId="1561940921" sldId="26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01EDA-9250-C23D-5CFD-F97D80A96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199DD9-DAA8-B70A-2854-6B9849E2D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345F78-CED0-86D9-32A1-4980F40D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CFB6A0-E163-44E9-A669-3FD81EA3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9D8411-93DC-13CA-6D54-C5180271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1071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FD3D4-F69E-8690-98D2-2EFA2545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7F097F-85A9-F0AF-832B-833D484D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E81A7F-2E63-EDFF-F7EE-87FC2C1D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7AF8D1-D04B-B39F-67DA-97F2528A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26A32-3E82-F024-00A7-F65FBDB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673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B3687-FBF5-223F-340F-EB50B84A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B6D0EE-0AAC-7A24-F2C8-56727F9E6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A01708-20FD-D40D-9DB1-C128CF53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AA5491-0C2A-CA0D-865B-BDA11809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ADBD47-F468-27DA-0FC1-9A2F1B9F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4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0D4E7-CB80-17A4-27C3-360DF577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95E631-F124-B6C9-37B5-6A7051A62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740038-230F-124E-B1EB-A6165A280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95AB2-EF76-6C67-5740-FB4185FF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FC0028-DCE1-E4D6-5D86-262F59CD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502604-58DC-A6BB-75AB-AFF7BA33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108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0B0DC-6FDC-703C-0CAC-5E8A0330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5585C-EFEE-260D-7B5C-0A0353607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872BB5-4F9D-4CB1-BAF0-407D4053A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673C914-4999-14DF-E754-87537AC95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1E6602-FC3A-BAD3-6B34-E69CF956A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E48B55-8CF1-CDF3-DB13-7C290C96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2968FC-D7A9-F974-D726-66580A72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2E9B80-B36B-DC60-C4B9-28DF1DF2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037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06873-7990-2EDF-C1FA-849B65BB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B6985D-8FC5-3E29-CC06-27F68A4B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2F1872-0719-8FD6-1E15-68052F4F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2DE6CC-D379-10F3-8EEE-B28B04C0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697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093637C-5145-3DE4-2B39-87617C4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DD4D08-09DA-4101-05C3-E35C660D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EE8DE7-1A09-8F08-E347-8CECE339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111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BE023-C328-9670-F966-891E24D7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9846BF-74B3-22B0-42B8-0470E32A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EA61A4-8CEA-534F-388B-B520E4A51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10FE1-C70B-ADB2-6A9A-BB548ED0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ACDD7C-17A9-93AF-E412-DE7ABA17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27711B-340A-D9F4-ABA5-4C2BD713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637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4AA7C-C849-221D-BE87-C18F2FE5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351B01-9F14-F6AE-369A-95C6F1844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EF0E56-8F2B-52FE-439B-B28544B71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D0F6F5-F040-F030-7D19-D7ADAB00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8A27B0-8F38-3E26-2C1F-E3985598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CC6CD1-4C69-6BCC-E249-69856604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643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4656D-6AAB-47EF-4400-5A5C4E08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44B045-025F-B94E-F1B5-129B4EB12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4D8F6F-DE67-EA86-605D-2773A907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F01ED9-93EA-E511-9B7D-7B07D314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BDA730-3D19-1B28-E75F-DE4AB5F1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677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12E5D3-BEC7-957E-60F5-6464FFB61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3F4B02-A13A-8C10-F69B-12510A363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DA3917-29E4-1753-13D4-82EE2D21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001D7-2FC2-439F-ED36-281E7DC6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790522-F56D-3555-1DC5-C7224F3A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66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2ADB93-5F1C-4923-1CE2-CC989C8A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CFA3A0-E64A-7B00-868A-2E135E5D3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C0354F-7668-DFB8-081C-3B6EF35AC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F86E3-241F-4532-90E2-66B6C0497645}" type="datetimeFigureOut">
              <a:rPr lang="es-CO" smtClean="0"/>
              <a:t>27/09/2026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D634FB-FD45-AEFF-FA15-98FB8E8B5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C4081-B57E-F736-12E7-AA50AAC46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974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486CD91-14DB-F020-6E21-1D0D50E89223}"/>
              </a:ext>
            </a:extLst>
          </p:cNvPr>
          <p:cNvSpPr txBox="1"/>
          <p:nvPr/>
        </p:nvSpPr>
        <p:spPr>
          <a:xfrm>
            <a:off x="1534724" y="1600000"/>
            <a:ext cx="3900000" cy="1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Patrón de Diseño Estructural: Proxy</a:t>
            </a:r>
            <a:endParaRPr lang="es-CO" sz="32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E61581-D611-3242-423D-B2E18400DE40}"/>
              </a:ext>
            </a:extLst>
          </p:cNvPr>
          <p:cNvSpPr txBox="1"/>
          <p:nvPr/>
        </p:nvSpPr>
        <p:spPr>
          <a:xfrm>
            <a:off x="1736110" y="340000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Sofia Perez Castro</a:t>
            </a:r>
          </a:p>
        </p:txBody>
      </p:sp>
    </p:spTree>
    <p:extLst>
      <p:ext uri="{BB962C8B-B14F-4D97-AF65-F5344CB8AC3E}">
        <p14:creationId xmlns:p14="http://schemas.microsoft.com/office/powerpoint/2010/main" val="16975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376701-D2F4-99B4-941E-3C205D1AED66}"/>
              </a:ext>
            </a:extLst>
          </p:cNvPr>
          <p:cNvSpPr txBox="1"/>
          <p:nvPr/>
        </p:nvSpPr>
        <p:spPr>
          <a:xfrm>
            <a:off x="890649" y="890649"/>
            <a:ext cx="7630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problema resuelve?</a:t>
            </a:r>
            <a:endParaRPr lang="es-CO" sz="28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irculo1"/>
          <p:cNvSpPr/>
          <p:nvPr/>
        </p:nvSpPr>
        <p:spPr>
          <a:xfrm>
            <a:off x="890649" y="1750000"/>
            <a:ext cx="548640" cy="54864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s-CO" sz="2000" b="1">
                <a:solidFill>
                  <a:schemeClr val="bg1"/>
                </a:solidFill>
                <a:latin typeface="Arial"/>
              </a:rPr>
              <a:t>1</a:t>
            </a:r>
          </a:p>
        </p:txBody>
      </p:sp>
      <p:sp>
        <p:nvSpPr>
          <p:cNvPr id="11" name="Texto1"/>
          <p:cNvSpPr txBox="1"/>
          <p:nvPr/>
        </p:nvSpPr>
        <p:spPr>
          <a:xfrm>
            <a:off x="1639289" y="1650000"/>
            <a:ext cx="9662062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1800" b="1">
                <a:solidFill>
                  <a:schemeClr val="tx1"/>
                </a:solidFill>
                <a:latin typeface="Arial"/>
              </a:rPr>
              <a:t>Control de objetos costosos</a:t>
            </a:r>
          </a:p>
          <a:p>
            <a:r>
              <a:rPr lang="es-CO" sz="15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Necesidad de controlar, proteger o postergar la creación o ejecución de un objeto costoso (servicios web, consultas pesadas a BD, archivos grandes).</a:t>
            </a:r>
          </a:p>
        </p:txBody>
      </p:sp>
      <p:sp>
        <p:nvSpPr>
          <p:cNvPr id="12" name="Circulo2"/>
          <p:cNvSpPr/>
          <p:nvPr/>
        </p:nvSpPr>
        <p:spPr>
          <a:xfrm>
            <a:off x="890649" y="3550000"/>
            <a:ext cx="548640" cy="54864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s-CO" sz="2000" b="1">
                <a:solidFill>
                  <a:schemeClr val="bg1"/>
                </a:solidFill>
                <a:latin typeface="Arial"/>
              </a:rPr>
              <a:t>2</a:t>
            </a:r>
          </a:p>
        </p:txBody>
      </p:sp>
      <p:sp>
        <p:nvSpPr>
          <p:cNvPr id="13" name="Texto2"/>
          <p:cNvSpPr txBox="1"/>
          <p:nvPr/>
        </p:nvSpPr>
        <p:spPr>
          <a:xfrm>
            <a:off x="1639289" y="3450000"/>
            <a:ext cx="9662062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1800" b="1">
                <a:solidFill>
                  <a:schemeClr val="tx1"/>
                </a:solidFill>
                <a:latin typeface="Arial"/>
              </a:rPr>
              <a:t>Principio SRP (Single Responsibility)</a:t>
            </a:r>
          </a:p>
          <a:p>
            <a:r>
              <a:rPr lang="es-CO" sz="15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Separa la lógica de negocio de las tareas de control, como logs, seguridad y caché.</a:t>
            </a:r>
          </a:p>
        </p:txBody>
      </p:sp>
    </p:spTree>
    <p:extLst>
      <p:ext uri="{BB962C8B-B14F-4D97-AF65-F5344CB8AC3E}">
        <p14:creationId xmlns:p14="http://schemas.microsoft.com/office/powerpoint/2010/main" val="14647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2B10121-152E-59A0-C596-135CFE0427F2}"/>
              </a:ext>
            </a:extLst>
          </p:cNvPr>
          <p:cNvSpPr txBox="1"/>
          <p:nvPr/>
        </p:nvSpPr>
        <p:spPr>
          <a:xfrm>
            <a:off x="890649" y="890649"/>
            <a:ext cx="7630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 del Patrón</a:t>
            </a:r>
            <a:endParaRPr lang="es-CO" sz="28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BoxInterfaz"/>
          <p:cNvSpPr/>
          <p:nvPr/>
        </p:nvSpPr>
        <p:spPr>
          <a:xfrm>
            <a:off x="4596000" y="1750000"/>
            <a:ext cx="3000000" cy="75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  <a:prstDash val="dash"/>
          </a:ln>
        </p:spPr>
        <p:txBody>
          <a:bodyPr wrap="square" anchor="ctr">
            <a:normAutofit/>
          </a:bodyPr>
          <a:lstStyle/>
          <a:p>
            <a:pPr algn="ctr"/>
            <a:r>
              <a:rPr lang="es-CO" sz="1100" i="1">
                <a:solidFill>
                  <a:schemeClr val="accent6">
                    <a:lumMod val="50000"/>
                  </a:schemeClr>
                </a:solidFill>
                <a:latin typeface="Arial"/>
              </a:rPr>
              <a:t>«interfaz común»</a:t>
            </a:r>
          </a:p>
          <a:p>
            <a:pPr algn="ctr"/>
            <a:r>
              <a:rPr lang="es-CO" sz="1600" b="1">
                <a:solidFill>
                  <a:schemeClr val="tx1"/>
                </a:solidFill>
                <a:latin typeface="Arial"/>
              </a:rPr>
              <a:t>IServicio</a:t>
            </a:r>
          </a:p>
        </p:txBody>
      </p:sp>
      <p:cxnSp>
        <p:nvCxnSpPr>
          <p:cNvPr id="11" name="ConectorReal"/>
          <p:cNvCxnSpPr/>
          <p:nvPr/>
        </p:nvCxnSpPr>
        <p:spPr>
          <a:xfrm flipH="1">
            <a:off x="3500000" y="2500000"/>
            <a:ext cx="2596000" cy="120000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prstDash val="dash"/>
          </a:ln>
        </p:spPr>
      </p:cxnSp>
      <p:cxnSp>
        <p:nvCxnSpPr>
          <p:cNvPr id="12" name="ConectorProxy"/>
          <p:cNvCxnSpPr/>
          <p:nvPr/>
        </p:nvCxnSpPr>
        <p:spPr>
          <a:xfrm>
            <a:off x="6096000" y="2500000"/>
            <a:ext cx="2604000" cy="120000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prstDash val="dash"/>
          </a:ln>
        </p:spPr>
      </p:cxnSp>
      <p:sp>
        <p:nvSpPr>
          <p:cNvPr id="13" name="BoxReal"/>
          <p:cNvSpPr/>
          <p:nvPr/>
        </p:nvSpPr>
        <p:spPr>
          <a:xfrm>
            <a:off x="1800000" y="3900000"/>
            <a:ext cx="3400000" cy="135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CO" sz="1700" b="1">
                <a:solidFill>
                  <a:schemeClr val="bg1"/>
                </a:solidFill>
                <a:latin typeface="Arial"/>
              </a:rPr>
              <a:t>ServicioReal</a:t>
            </a:r>
          </a:p>
          <a:p>
            <a:pPr algn="ctr"/>
            <a:r>
              <a:rPr lang="es-CO" sz="1300">
                <a:solidFill>
                  <a:schemeClr val="bg1"/>
                </a:solidFill>
                <a:latin typeface="Arial"/>
              </a:rPr>
              <a:t>Clase con la lógica pesada</a:t>
            </a:r>
          </a:p>
        </p:txBody>
      </p:sp>
      <p:sp>
        <p:nvSpPr>
          <p:cNvPr id="14" name="BoxProxy"/>
          <p:cNvSpPr/>
          <p:nvPr/>
        </p:nvSpPr>
        <p:spPr>
          <a:xfrm>
            <a:off x="7000000" y="3900000"/>
            <a:ext cx="3400000" cy="1350000"/>
          </a:xfrm>
          <a:prstGeom prst="roundRect">
            <a:avLst/>
          </a:prstGeom>
          <a:solidFill>
            <a:srgbClr val="D9BE55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CO" sz="1700" b="1">
                <a:solidFill>
                  <a:schemeClr val="tx1"/>
                </a:solidFill>
                <a:latin typeface="Arial"/>
              </a:rPr>
              <a:t>ServicioProxy</a:t>
            </a:r>
          </a:p>
          <a:p>
            <a:pPr algn="ctr"/>
            <a:r>
              <a:rPr lang="es-CO" sz="1300">
                <a:solidFill>
                  <a:schemeClr val="tx1"/>
                </a:solidFill>
                <a:latin typeface="Arial"/>
              </a:rPr>
              <a:t>Intermediario que intercepta las llamadas</a:t>
            </a:r>
          </a:p>
        </p:txBody>
      </p:sp>
      <p:cxnSp>
        <p:nvCxnSpPr>
          <p:cNvPr id="15" name="FlechaDelega"/>
          <p:cNvCxnSpPr/>
          <p:nvPr/>
        </p:nvCxnSpPr>
        <p:spPr>
          <a:xfrm>
            <a:off x="5200000" y="4575000"/>
            <a:ext cx="1800000" cy="0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</a:ln>
        </p:spPr>
      </p:cxnSp>
      <p:sp>
        <p:nvSpPr>
          <p:cNvPr id="16" name="LabelDelega"/>
          <p:cNvSpPr txBox="1"/>
          <p:nvPr/>
        </p:nvSpPr>
        <p:spPr>
          <a:xfrm>
            <a:off x="5200000" y="4200000"/>
            <a:ext cx="18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s-CO" sz="110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delega</a:t>
            </a:r>
          </a:p>
        </p:txBody>
      </p:sp>
      <p:sp>
        <p:nvSpPr>
          <p:cNvPr id="17" name="LeyendaImplementa"/>
          <p:cNvSpPr txBox="1"/>
          <p:nvPr/>
        </p:nvSpPr>
        <p:spPr>
          <a:xfrm>
            <a:off x="890649" y="5650000"/>
            <a:ext cx="10410702" cy="4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s-CO" sz="13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Líneas discontinuas: ambas clases implementan la interfaz </a:t>
            </a:r>
            <a:r>
              <a:rPr lang="es-CO" sz="13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IServicio</a:t>
            </a:r>
            <a:r>
              <a:rPr lang="es-CO" sz="13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2B10121-152E-59A0-C596-135CFE0427F2}"/>
              </a:ext>
            </a:extLst>
          </p:cNvPr>
          <p:cNvSpPr txBox="1"/>
          <p:nvPr/>
        </p:nvSpPr>
        <p:spPr>
          <a:xfrm>
            <a:off x="890649" y="890649"/>
            <a:ext cx="7630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Comunes de Proxy</a:t>
            </a:r>
            <a:endParaRPr lang="es-CO" sz="28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rd20"/>
          <p:cNvSpPr/>
          <p:nvPr/>
        </p:nvSpPr>
        <p:spPr>
          <a:xfrm>
            <a:off x="890649" y="2100000"/>
            <a:ext cx="3450000" cy="3200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>
                <a:lumMod val="30000"/>
                <a:lumOff val="70000"/>
              </a:schemeClr>
            </a:solidFill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1" name="Circle20"/>
          <p:cNvSpPr/>
          <p:nvPr/>
        </p:nvSpPr>
        <p:spPr>
          <a:xfrm>
            <a:off x="2315649" y="2350000"/>
            <a:ext cx="600000" cy="60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s-CO" sz="2000" b="1">
                <a:solidFill>
                  <a:schemeClr val="bg1"/>
                </a:solidFill>
                <a:latin typeface="Arial"/>
              </a:rPr>
              <a:t>1</a:t>
            </a:r>
          </a:p>
        </p:txBody>
      </p:sp>
      <p:sp>
        <p:nvSpPr>
          <p:cNvPr id="22" name="Text20"/>
          <p:cNvSpPr txBox="1"/>
          <p:nvPr/>
        </p:nvSpPr>
        <p:spPr>
          <a:xfrm>
            <a:off x="1140649" y="3150000"/>
            <a:ext cx="2950000" cy="2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s-CO" sz="1600" b="1">
                <a:solidFill>
                  <a:schemeClr val="tx1"/>
                </a:solidFill>
                <a:latin typeface="Arial"/>
              </a:rPr>
              <a:t>Remote Proxy</a:t>
            </a:r>
          </a:p>
          <a:p>
            <a:pPr algn="ctr"/>
            <a:r>
              <a:rPr lang="es-CO" sz="13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Maneja comunicación remota (APIs, RPC).</a:t>
            </a:r>
          </a:p>
        </p:txBody>
      </p:sp>
      <p:sp>
        <p:nvSpPr>
          <p:cNvPr id="24" name="Card24"/>
          <p:cNvSpPr/>
          <p:nvPr/>
        </p:nvSpPr>
        <p:spPr>
          <a:xfrm>
            <a:off x="4471000" y="2100000"/>
            <a:ext cx="3450000" cy="3200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>
                <a:lumMod val="30000"/>
                <a:lumOff val="70000"/>
              </a:schemeClr>
            </a:solidFill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5" name="Circle24"/>
          <p:cNvSpPr/>
          <p:nvPr/>
        </p:nvSpPr>
        <p:spPr>
          <a:xfrm>
            <a:off x="5896000" y="2350000"/>
            <a:ext cx="600000" cy="600000"/>
          </a:xfrm>
          <a:prstGeom prst="ellipse">
            <a:avLst/>
          </a:prstGeom>
          <a:solidFill>
            <a:srgbClr val="D9BE55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s-CO" sz="2000" b="1">
                <a:solidFill>
                  <a:schemeClr val="tx1"/>
                </a:solidFill>
                <a:latin typeface="Arial"/>
              </a:rPr>
              <a:t>2</a:t>
            </a:r>
          </a:p>
        </p:txBody>
      </p:sp>
      <p:sp>
        <p:nvSpPr>
          <p:cNvPr id="26" name="Text24"/>
          <p:cNvSpPr txBox="1"/>
          <p:nvPr/>
        </p:nvSpPr>
        <p:spPr>
          <a:xfrm>
            <a:off x="4721000" y="3150000"/>
            <a:ext cx="2950000" cy="2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s-CO" sz="1600" b="1">
                <a:solidFill>
                  <a:schemeClr val="tx1"/>
                </a:solidFill>
                <a:latin typeface="Arial"/>
              </a:rPr>
              <a:t>Virtual Proxy (Lazy Loading)</a:t>
            </a:r>
          </a:p>
          <a:p>
            <a:pPr algn="ctr"/>
            <a:r>
              <a:rPr lang="es-CO" sz="13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Instancia el objeto solo cuando realmente se necesita.</a:t>
            </a:r>
          </a:p>
        </p:txBody>
      </p:sp>
      <p:sp>
        <p:nvSpPr>
          <p:cNvPr id="28" name="Card28"/>
          <p:cNvSpPr/>
          <p:nvPr/>
        </p:nvSpPr>
        <p:spPr>
          <a:xfrm>
            <a:off x="8051000" y="2100000"/>
            <a:ext cx="3450000" cy="3200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>
                <a:lumMod val="30000"/>
                <a:lumOff val="70000"/>
              </a:schemeClr>
            </a:solidFill>
          </a:ln>
          <a:effectLst>
            <a:outerShdw blurRad="90000" dist="30000" dir="5400000" rotWithShape="0">
              <a:srgbClr val="000000">
                <a:alpha val="18000"/>
              </a:srgbClr>
            </a:outerShdw>
          </a:effectLst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9" name="Circle28"/>
          <p:cNvSpPr/>
          <p:nvPr/>
        </p:nvSpPr>
        <p:spPr>
          <a:xfrm>
            <a:off x="9476000" y="2350000"/>
            <a:ext cx="600000" cy="600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s-CO" sz="2000" b="1">
                <a:solidFill>
                  <a:schemeClr val="bg1"/>
                </a:solidFill>
                <a:latin typeface="Arial"/>
              </a:rPr>
              <a:t>3</a:t>
            </a:r>
          </a:p>
        </p:txBody>
      </p:sp>
      <p:sp>
        <p:nvSpPr>
          <p:cNvPr id="30" name="Text28"/>
          <p:cNvSpPr txBox="1"/>
          <p:nvPr/>
        </p:nvSpPr>
        <p:spPr>
          <a:xfrm>
            <a:off x="8301000" y="3150000"/>
            <a:ext cx="2950000" cy="2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s-CO" sz="1600" b="1">
                <a:solidFill>
                  <a:schemeClr val="tx1"/>
                </a:solidFill>
                <a:latin typeface="Arial"/>
              </a:rPr>
              <a:t>Protection Proxy</a:t>
            </a:r>
          </a:p>
          <a:p>
            <a:pPr algn="ctr"/>
            <a:r>
              <a:rPr lang="es-CO" sz="13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Valida permisos de usuario antes de ejecutar la acción.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41F98-A0F1-7679-5E1A-51AB2E049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0B2D4B8-B1C1-2DF8-91C1-B2DAB5245AD8}"/>
              </a:ext>
            </a:extLst>
          </p:cNvPr>
          <p:cNvSpPr txBox="1"/>
          <p:nvPr/>
        </p:nvSpPr>
        <p:spPr>
          <a:xfrm>
            <a:off x="890649" y="890649"/>
            <a:ext cx="7630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Ventajas y Desventajas</a:t>
            </a:r>
            <a:endParaRPr lang="es-ES" sz="2800" b="1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0650" name="Header890649"/>
          <p:cNvSpPr/>
          <p:nvPr/>
        </p:nvSpPr>
        <p:spPr>
          <a:xfrm>
            <a:off x="890649" y="1750000"/>
            <a:ext cx="5005351" cy="700000"/>
          </a:xfrm>
          <a:prstGeom prst="roundRect">
            <a:avLst>
              <a:gd name="adj" fmla="val 1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CO" sz="2000" b="1">
                <a:solidFill>
                  <a:srgbClr val="FFFFFF"/>
                </a:solidFill>
                <a:latin typeface="Arial"/>
              </a:rPr>
              <a:t>Ventajas</a:t>
            </a:r>
          </a:p>
        </p:txBody>
      </p:sp>
      <p:sp>
        <p:nvSpPr>
          <p:cNvPr id="100" name="Item100"/>
          <p:cNvSpPr txBox="1"/>
          <p:nvPr/>
        </p:nvSpPr>
        <p:spPr>
          <a:xfrm>
            <a:off x="890649" y="2650000"/>
            <a:ext cx="5005351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CO" sz="1500" b="1">
                <a:solidFill>
                  <a:srgbClr val="2E7D32"/>
                </a:solidFill>
                <a:latin typeface="Arial"/>
              </a:rPr>
              <a:t>✓ </a:t>
            </a:r>
            <a:r>
              <a:rPr lang="es-CO" sz="1500">
                <a:solidFill>
                  <a:schemeClr val="tx1"/>
                </a:solidFill>
                <a:latin typeface="Arial"/>
              </a:rPr>
              <a:t>Control sin modificar el objeto real (principio Open/Closed).</a:t>
            </a:r>
          </a:p>
        </p:txBody>
      </p:sp>
      <p:sp>
        <p:nvSpPr>
          <p:cNvPr id="101" name="Item101"/>
          <p:cNvSpPr txBox="1"/>
          <p:nvPr/>
        </p:nvSpPr>
        <p:spPr>
          <a:xfrm>
            <a:off x="890649" y="3600000"/>
            <a:ext cx="5005351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CO" sz="1500" b="1">
                <a:solidFill>
                  <a:srgbClr val="2E7D32"/>
                </a:solidFill>
                <a:latin typeface="Arial"/>
              </a:rPr>
              <a:t>✓ </a:t>
            </a:r>
            <a:r>
              <a:rPr lang="es-CO" sz="1500">
                <a:solidFill>
                  <a:schemeClr val="tx1"/>
                </a:solidFill>
                <a:latin typeface="Arial"/>
              </a:rPr>
              <a:t>Rendimiento mejorado (caché / lazy loading).</a:t>
            </a:r>
          </a:p>
        </p:txBody>
      </p:sp>
      <p:sp>
        <p:nvSpPr>
          <p:cNvPr id="6296001" name="Header6296000"/>
          <p:cNvSpPr/>
          <p:nvPr/>
        </p:nvSpPr>
        <p:spPr>
          <a:xfrm>
            <a:off x="6296000" y="1750000"/>
            <a:ext cx="5005351" cy="700000"/>
          </a:xfrm>
          <a:prstGeom prst="roundRect">
            <a:avLst>
              <a:gd name="adj" fmla="val 10000"/>
            </a:avLst>
          </a:prstGeom>
          <a:solidFill>
            <a:srgbClr val="8C6A00"/>
          </a:solidFill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CO" sz="2000" b="1">
                <a:solidFill>
                  <a:srgbClr val="FFFFFF"/>
                </a:solidFill>
                <a:latin typeface="Arial"/>
              </a:rPr>
              <a:t>Desventajas</a:t>
            </a:r>
          </a:p>
        </p:txBody>
      </p:sp>
      <p:sp>
        <p:nvSpPr>
          <p:cNvPr id="200" name="Item200"/>
          <p:cNvSpPr txBox="1"/>
          <p:nvPr/>
        </p:nvSpPr>
        <p:spPr>
          <a:xfrm>
            <a:off x="6296000" y="2650000"/>
            <a:ext cx="5005351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CO" sz="1500" b="1">
                <a:solidFill>
                  <a:srgbClr val="9C4221"/>
                </a:solidFill>
                <a:latin typeface="Arial"/>
              </a:rPr>
              <a:t>✗ </a:t>
            </a:r>
            <a:r>
              <a:rPr lang="es-CO" sz="1500">
                <a:solidFill>
                  <a:schemeClr val="tx1"/>
                </a:solidFill>
                <a:latin typeface="Arial"/>
              </a:rPr>
              <a:t>Añade complejidad al código al crear más clases.</a:t>
            </a:r>
          </a:p>
        </p:txBody>
      </p:sp>
    </p:spTree>
    <p:extLst>
      <p:ext uri="{BB962C8B-B14F-4D97-AF65-F5344CB8AC3E}">
        <p14:creationId xmlns:p14="http://schemas.microsoft.com/office/powerpoint/2010/main" val="271195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41F98-A0F1-7679-5E1A-51AB2E049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Item100"/>
          <p:cNvSpPr txBox="1"/>
          <p:nvPr/>
        </p:nvSpPr>
        <p:spPr>
          <a:xfrm>
            <a:off x="890649" y="2037440"/>
            <a:ext cx="7489871" cy="1391559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Usarlo cuando: se quiera añadir lógica secundaria sin ensuciar la clase principal, o para diferir la carga de objetos pesados.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5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5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No usarlo cuando: el acceso al objeto sea directo y simple, ya que agregar un proxy agrega complejidad innecesaria.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2E9EE09-88B8-425F-B161-3C0F34662F4B}"/>
              </a:ext>
            </a:extLst>
          </p:cNvPr>
          <p:cNvSpPr txBox="1"/>
          <p:nvPr/>
        </p:nvSpPr>
        <p:spPr>
          <a:xfrm>
            <a:off x="890649" y="890649"/>
            <a:ext cx="7630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USARLO Y CUANDO NO</a:t>
            </a:r>
          </a:p>
        </p:txBody>
      </p:sp>
    </p:spTree>
    <p:extLst>
      <p:ext uri="{BB962C8B-B14F-4D97-AF65-F5344CB8AC3E}">
        <p14:creationId xmlns:p14="http://schemas.microsoft.com/office/powerpoint/2010/main" val="421209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60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234</Words>
  <Application>Microsoft Office PowerPoint</Application>
  <PresentationFormat>Panorámica</PresentationFormat>
  <Paragraphs>39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Mariana Correa Ramirez</dc:creator>
  <cp:lastModifiedBy>Ana Sofia Perez Castro</cp:lastModifiedBy>
  <cp:revision>5</cp:revision>
  <dcterms:created xsi:type="dcterms:W3CDTF">2025-01-15T15:12:02Z</dcterms:created>
  <dcterms:modified xsi:type="dcterms:W3CDTF">2026-09-28T01:26:02Z</dcterms:modified>
</cp:coreProperties>
</file>